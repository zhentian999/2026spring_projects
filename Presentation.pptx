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80" r:id="rId11"/>
    <p:sldId id="277" r:id="rId12"/>
    <p:sldId id="278" r:id="rId13"/>
    <p:sldId id="279" r:id="rId14"/>
    <p:sldId id="266" r:id="rId15"/>
    <p:sldId id="269" r:id="rId16"/>
    <p:sldId id="270" r:id="rId17"/>
    <p:sldId id="281" r:id="rId18"/>
    <p:sldId id="272" r:id="rId19"/>
    <p:sldId id="267" r:id="rId20"/>
    <p:sldId id="276" r:id="rId21"/>
    <p:sldId id="273" r:id="rId22"/>
    <p:sldId id="274" r:id="rId2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28"/>
    <p:restoredTop sz="95028"/>
  </p:normalViewPr>
  <p:slideViewPr>
    <p:cSldViewPr snapToGrid="0">
      <p:cViewPr>
        <p:scale>
          <a:sx n="105" d="100"/>
          <a:sy n="105" d="100"/>
        </p:scale>
        <p:origin x="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4BE5F-1394-3D48-844A-771F363BF0D7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3FD008-8EDE-4F44-9790-B69AA6467F9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607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close_approach_date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dirty="0"/>
              <a:t>The exact date and time when the asteroid passes closest to Earth;</a:t>
            </a:r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distance_au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dirty="0"/>
              <a:t>Closest approach distance in Astronomical Units — 1 AU is the distance from Earth to the Sun</a:t>
            </a:r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dist_lunar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dirty="0"/>
              <a:t>Same distance expressed in Lunar Distances </a:t>
            </a:r>
          </a:p>
          <a:p>
            <a:endParaRPr lang="en-US" dirty="0"/>
          </a:p>
          <a:p>
            <a:r>
              <a:rPr lang="en-US" dirty="0" err="1"/>
              <a:t>Distance_min_au</a:t>
            </a:r>
            <a:r>
              <a:rPr lang="en-US" dirty="0"/>
              <a:t>: Minimum possible approach distance accounting for orbital uncertainty</a:t>
            </a:r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velocity_km_s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dirty="0"/>
              <a:t>Speed of the asteroid relative to Earth at closest approach, in km/s</a:t>
            </a:r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velocity_infinity_km_s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dirty="0"/>
              <a:t>The asteroid's speed after removing Earth's gravitational pull — reflects its true orbital speed</a:t>
            </a:r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absolute_magnitude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dirty="0"/>
              <a:t>The H magnitude — a measure of the asteroid's brightness, which indirectly tells us its size. Lower H = larger and brighter object</a:t>
            </a:r>
          </a:p>
          <a:p>
            <a:endParaRPr lang="en-US" dirty="0"/>
          </a:p>
          <a:p>
            <a:endParaRPr lang="en-US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3FD008-8EDE-4F44-9790-B69AA6467F98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24872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Pha: </a:t>
            </a:r>
            <a:r>
              <a:rPr lang="en-US" dirty="0"/>
              <a:t>Potentially Hazardous Asteroid flag — True if the asteroid's orbit brings it close enough and it's large enough to cause significant damage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H: </a:t>
            </a:r>
            <a:r>
              <a:rPr lang="en-US" dirty="0"/>
              <a:t>Absolute magnitude — same as above, the key proxy for estimating size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Class: </a:t>
            </a:r>
            <a:r>
              <a:rPr lang="en-US" dirty="0"/>
              <a:t>Which orbital family it belongs to — Apollo, Aten, or Amor — based on the shape and size of its orbit</a:t>
            </a:r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data_arc_years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</a:t>
            </a:r>
            <a:r>
              <a:rPr lang="en-US" dirty="0"/>
              <a:t>Same arc length expressed in years — longer means we have more data and a more reliable orbit</a:t>
            </a:r>
          </a:p>
          <a:p>
            <a:endParaRPr lang="en-US" dirty="0"/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 </a:t>
            </a:r>
            <a:r>
              <a:rPr lang="en-US" dirty="0"/>
              <a:t>Orbital eccentricity — how elongated the orbit is. 0 = perfect circle, closer to 1 = more stretched out</a:t>
            </a:r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moid_au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dirty="0"/>
              <a:t>Minimum Orbit Intersection Distance — the closest the asteroid's orbit can ever get to Earth's orbit, in AU. PHAs have MOID ≤ 0.05 AU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Albedo: </a:t>
            </a:r>
            <a:r>
              <a:rPr lang="en-US" dirty="0"/>
              <a:t>How reflective the surface is, on a scale of 0 to 1. Used together with H to estimate diameter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size_category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dirty="0"/>
              <a:t>A human-readable size label: Tiny / Small / Medium / Large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3FD008-8EDE-4F44-9790-B69AA6467F98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16729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Pearson correlation is the natural choice here because both variables are continuous and the hypothesis is purely about </a:t>
            </a:r>
            <a:r>
              <a:rPr lang="en-US" b="1" dirty="0"/>
              <a:t>whether and how strongly they move together</a:t>
            </a:r>
            <a:r>
              <a:rPr lang="en-US" dirty="0"/>
              <a:t>. The output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</a:t>
            </a:r>
            <a:r>
              <a:rPr lang="en-US" dirty="0"/>
              <a:t> directly answers both questions at once — direction and strength</a:t>
            </a:r>
            <a:r>
              <a:rPr lang="zh-CN" altLang="en-US" dirty="0"/>
              <a:t>，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So, as we can see, There is a moderate negative correlation between the size of an asteroid and the duration of its observation (r = -0.66, p ≈ 0); larger asteroids possess more complete observational records. This result is statistically significant.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3FD008-8EDE-4F44-9790-B69AA6467F98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38085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H2 asks whether the gap between two group means,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en-US" dirty="0"/>
              <a:t> is too large to be explained by random chance. Welch's variant is used because it doesn't assume the two groups have equal variance, which is the safer default.</a:t>
            </a:r>
          </a:p>
          <a:p>
            <a:r>
              <a:rPr lang="en-US" dirty="0"/>
              <a:t>Cohen's d is added on top because with large datasets, even a trivially small difference will produce a significant p-value. </a:t>
            </a:r>
          </a:p>
          <a:p>
            <a:endParaRPr lang="en-US" dirty="0"/>
          </a:p>
          <a:p>
            <a:r>
              <a:rPr lang="en-US" dirty="0"/>
              <a:t>PHAs approach Earth at significantly higher velocities than non-PHAs (15.48 vs 9.77 km/s), with the difference being both statistically unambiguous (p ≈ 3.5e-65) and practically large (d = 1.01), strongly supporting H2.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3FD008-8EDE-4F44-9790-B69AA6467F98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48464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Z-score scaling all predictors before fitting, the </a:t>
            </a:r>
            <a:r>
              <a:rPr lang="el-GR" dirty="0"/>
              <a:t>β </a:t>
            </a:r>
            <a:r>
              <a:rPr lang="en-US" dirty="0"/>
              <a:t>coefficients are expressed in the same unit (standard deviations), so comparing their absolute values directly tells which predictor pulls the most weight. R² then tells how much of the outcome the whole model explains together.</a:t>
            </a:r>
          </a:p>
          <a:p>
            <a:endParaRPr lang="en-US" dirty="0"/>
          </a:p>
          <a:p>
            <a:r>
              <a:rPr lang="en-US" dirty="0"/>
              <a:t>The coefficient of Score proximity is higher than others and R squared =0.9490, very close to 1, strongly supported H3.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3FD008-8EDE-4F44-9790-B69AA6467F98}" type="slidenum">
              <a:rPr lang="en-CN" smtClean="0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15617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scatterplot is quite sparse and every high-threat event occurs below approximately 15 lunar distances, proving proximity as the dominant threat driver and supporting H3.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vast majority of approaches are low-threat and distant, with only a handful of events crossing below 1 lunar distance — most notably the Apophis flyby in April 2029 at just 0.10 lunar distances.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3FD008-8EDE-4F44-9790-B69AA6467F98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51931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first chart reveals that non-hazardous objects are significantly more numerous and peak at a lower velocity, while PHAs are distributed more sparsely across a similar speed range.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PHAs approach Earth at substantially higher velocities than non-PHAs, with median speeds of approximately 15 km/s versus 9 km/s respectively, and the middle 50% of each group barely overlapping — providing strong visual confirmation of the H2 findings.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3FD008-8EDE-4F44-9790-B69AA6467F98}" type="slidenum">
              <a:rPr lang="en-CN" smtClean="0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48952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heatmap confirms proximity as the dominant threat driver, with </a:t>
            </a:r>
            <a:r>
              <a:rPr lang="en-US" dirty="0" err="1"/>
              <a:t>dist_lunar</a:t>
            </a:r>
            <a:r>
              <a:rPr lang="en-US" dirty="0"/>
              <a:t> showing the strongest correlation to threat score at -0.71, followed by H magnitude at -0.50 and velocity at 0.43 — directly supporting H3.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b="1" dirty="0"/>
              <a:t>Next, </a:t>
            </a:r>
            <a:r>
              <a:rPr lang="en-US" dirty="0"/>
              <a:t>There is a </a:t>
            </a:r>
            <a:r>
              <a:rPr lang="en-US" b="1" dirty="0"/>
              <a:t>-0.66</a:t>
            </a:r>
            <a:r>
              <a:rPr lang="en-US" dirty="0"/>
              <a:t> correlation between H magnitude (size) and arc-length, confirming that larger asteroids tend to have much longer and more detailed observational histories than smaller ones.</a:t>
            </a:r>
          </a:p>
          <a:p>
            <a:endParaRPr lang="en-US" dirty="0"/>
          </a:p>
          <a:p>
            <a:r>
              <a:rPr lang="en-US" dirty="0"/>
              <a:t>also, We see a high correlation of </a:t>
            </a:r>
            <a:r>
              <a:rPr lang="en-US" b="1" dirty="0"/>
              <a:t>0.73</a:t>
            </a:r>
            <a:r>
              <a:rPr lang="en-US" dirty="0"/>
              <a:t> between velocity and eccentricity. This tells us that asteroids with more elongated orbits travel significantly faster as they pass Earth, which explains the high approach speeds we’ve observed among </a:t>
            </a:r>
            <a:r>
              <a:rPr lang="en-US" dirty="0" err="1"/>
              <a:t>pha</a:t>
            </a:r>
            <a:r>
              <a:rPr lang="en-US" dirty="0"/>
              <a:t>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3FD008-8EDE-4F44-9790-B69AA6467F98}" type="slidenum">
              <a:rPr lang="en-CN" smtClean="0"/>
              <a:t>16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00716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most frequently observed asteroids are the least dangerous, while the rarest ones pose the greatest threat, revealing an inverse relationship between close approach frequency and actual risk.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3FD008-8EDE-4F44-9790-B69AA6467F98}" type="slidenum">
              <a:rPr lang="en-CN" smtClean="0"/>
              <a:t>17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9267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Apollo asteroids dominate the threat landscape — contributing 86% of all high-threat close approach events and showing a high-threat rate nearly 4 times higher than Aten asteroids, largely because their orbits cross Earth's path from the outside, creating more frequent and faster close encounters.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3FD008-8EDE-4F44-9790-B69AA6467F98}" type="slidenum">
              <a:rPr lang="en-CN" smtClean="0"/>
              <a:t>19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95818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Spearman correlation measures the monotonic relationship between two variables by comparing their ranks, making it more robust than Pearson when evaluating ranking stability or non-linear relationships.</a:t>
            </a:r>
            <a:r>
              <a:rPr 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 evaluate whether our Composite Threat Score is robust, </a:t>
            </a:r>
            <a:r>
              <a:rPr lang="en-US" dirty="0" err="1"/>
              <a:t>i</a:t>
            </a:r>
            <a:r>
              <a:rPr lang="en-US" dirty="0"/>
              <a:t> tested five different weight configurations — ranging from proximity-heavy to equal-weight — and compared how much the Top 20 ranking changed across each. The overlap ranged from 65% to 75%, meaning at least 13 out of 20 high-threat asteroids remain consistent regardless of how we adjust the weights, confirming that our core findings are not an artifact of our specific weight choices.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3FD008-8EDE-4F44-9790-B69AA6467F98}" type="slidenum">
              <a:rPr lang="en-CN" smtClean="0"/>
              <a:t>21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07306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3FA59-9135-7DDC-3C2A-A1855034B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953958-BF08-4136-ABFA-870159035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460F6-EF7D-6688-21F9-492F3A366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CEECD-E357-E441-823D-8C5B201E160D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C88DA-E66B-514E-543D-75A9A2C47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48170-A26B-374A-324C-368CD3118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3643-7557-DA46-8BDA-7DCC282887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44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0F1E3-F769-1466-D5EF-82C3A089D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AF3CF-5DE9-2DCD-9679-F3D247AD4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B6B96-7900-8CE0-AF9C-482D7886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CEECD-E357-E441-823D-8C5B201E160D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D61A1-0D4C-8199-E731-4F5498FC2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66191-E321-E85C-6CDA-F98A69FFF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3643-7557-DA46-8BDA-7DCC282887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5059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32826-6225-BCA5-B334-C2C907614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7AED0-96D6-CADD-553E-8088F677F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561F3-B651-8BA2-9B08-7029C1AF9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CEECD-E357-E441-823D-8C5B201E160D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0776B-7317-2014-468D-E7FD7AA1A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EB6DA-58C6-4E90-60C5-C763BB7F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3643-7557-DA46-8BDA-7DCC282887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4098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9620C-1D59-F789-0959-E24396B8B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781C9-F1BC-9116-2641-D153DA8A8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B7F7B-5DD0-9B09-7FF2-E040D6012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233B3-DE8D-916B-F015-39D0969D0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CEECD-E357-E441-823D-8C5B201E160D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BFC9E-DA49-4461-864E-D9666533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ED91E-B082-9E38-423F-5939EE71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3643-7557-DA46-8BDA-7DCC282887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8664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E549C-2EC8-A12D-B4CE-2DD118D87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5DCE8-A4DF-BA65-D824-6B815ECB8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A29FF-8FEC-5E52-34E0-1F0B053D5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F8021-3E10-B4EC-F9A1-370522CE6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4546E-CA74-4290-40A1-8516D30DB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5F8084-EFF0-E8DB-F3F4-EAC878E5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CEECD-E357-E441-823D-8C5B201E160D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CA01BE-FFFB-AFE3-8230-5C68044DB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85B71-2069-FB11-7EC9-79B12CEE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3643-7557-DA46-8BDA-7DCC282887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33630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47F2F-7DAD-E802-5EC7-C6A7BCF0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8F338-CCF5-E4BC-E713-234589A42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CEECD-E357-E441-823D-8C5B201E160D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C36A16-693F-9FA3-D4F3-008DC14F0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5B596B-B94E-2FD7-6D33-54E60235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3643-7557-DA46-8BDA-7DCC282887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2406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9499F5-5207-E7B9-C960-5C78AC124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CEECD-E357-E441-823D-8C5B201E160D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81DC08-A7F3-4F52-47D9-C6DD42CD7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3B1CA-CFE0-6F50-37AA-2ECE4B4D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3643-7557-DA46-8BDA-7DCC282887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27087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1B6C-8C60-6E97-309E-D6C42CBB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E5597-E680-B6BA-4016-5E898D3D0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BB55A-566A-25B4-13F5-1C8D09BFB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61DAA-E31E-1A3A-8D88-993F565EA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CEECD-E357-E441-823D-8C5B201E160D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6E4D8-D1EE-C542-144B-8591A73D6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A2FB8-33EB-B746-D78A-31C304D6F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3643-7557-DA46-8BDA-7DCC282887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2422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15463-9061-1D5E-B52C-DF209EB6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165386-C378-53AD-188A-ECEDFFF4C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3674CB-B248-DE0C-9AB1-D8113647D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AFBF8-C892-9D33-A99A-08DFDF114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CEECD-E357-E441-823D-8C5B201E160D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D9346-74E7-2274-8973-8D0ECB986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789DA-4521-C811-8D6F-8601EB41B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3643-7557-DA46-8BDA-7DCC282887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71382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ED76F-397D-5776-F737-1804C1F5A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148220-E1FE-2942-B338-4F4AF4D9D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DBACE-0B14-8849-108F-4BB093A64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CEECD-E357-E441-823D-8C5B201E160D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96E0B-1E45-60B7-6586-1604EB962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DC254-3CD0-2C9C-21D3-8BBB2F94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3643-7557-DA46-8BDA-7DCC282887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83557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C5FD4F-C8B8-F493-05A6-DE3A91BA6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F15DE-F84E-3506-E51A-B6F8D1B32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FA939-B131-1EA1-AF5F-8EF6979C0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CEECD-E357-E441-823D-8C5B201E160D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8855F-26C6-B2D8-8FF9-19654EA01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FA143-CA96-CC48-2700-23770B50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3643-7557-DA46-8BDA-7DCC282887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06682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B27CB9-11E3-4856-13A1-EEEA6D2C3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07AFF-FCA2-3AE6-EA50-8F5E41031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2E38C-D9BE-D894-28C2-DAFC93834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4CEECD-E357-E441-823D-8C5B201E160D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70A53-DC32-B1CB-2A6F-E42617E51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898F0-D0D6-6DF8-22E7-F98EB7C3D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EC3643-7557-DA46-8BDA-7DCC2828870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1760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C0E5A-F4F6-7B2A-FA5C-6068D5363F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Asteroid Threat Assessment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EEE8C-FF9A-67B2-71DD-7AE9A30130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CN" dirty="0"/>
              <a:t>he chances of hitting to the earth during 2026-2035</a:t>
            </a:r>
          </a:p>
          <a:p>
            <a:r>
              <a:rPr lang="en-CN" dirty="0"/>
              <a:t>Zhen Tian</a:t>
            </a:r>
          </a:p>
        </p:txBody>
      </p:sp>
    </p:spTree>
    <p:extLst>
      <p:ext uri="{BB962C8B-B14F-4D97-AF65-F5344CB8AC3E}">
        <p14:creationId xmlns:p14="http://schemas.microsoft.com/office/powerpoint/2010/main" val="3473675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FC1BA-8B15-0E08-87B4-E3E7DB525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Presentation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D1C7F-EF6E-439F-2C19-F36BFBB54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N" dirty="0"/>
              <a:t>Project Overview</a:t>
            </a:r>
          </a:p>
          <a:p>
            <a:r>
              <a:rPr lang="en-CN" dirty="0"/>
              <a:t>Data Sources</a:t>
            </a:r>
          </a:p>
          <a:p>
            <a:r>
              <a:rPr lang="en-CN" dirty="0"/>
              <a:t>Process Pipeline</a:t>
            </a:r>
          </a:p>
          <a:p>
            <a:r>
              <a:rPr lang="en-CN" dirty="0"/>
              <a:t>Research Hypotheses</a:t>
            </a:r>
          </a:p>
          <a:p>
            <a:r>
              <a:rPr lang="en-CN" dirty="0"/>
              <a:t>Findings</a:t>
            </a:r>
          </a:p>
          <a:p>
            <a:r>
              <a:rPr lang="en-CN" dirty="0"/>
              <a:t>Evaluations</a:t>
            </a:r>
          </a:p>
          <a:p>
            <a:r>
              <a:rPr lang="en-CN" dirty="0"/>
              <a:t>Conclusion&amp; Limitations</a:t>
            </a:r>
          </a:p>
        </p:txBody>
      </p:sp>
    </p:spTree>
    <p:extLst>
      <p:ext uri="{BB962C8B-B14F-4D97-AF65-F5344CB8AC3E}">
        <p14:creationId xmlns:p14="http://schemas.microsoft.com/office/powerpoint/2010/main" val="2330291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15D11-532F-DBE4-0C14-D9FBDA7BF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C3FCB-B1A5-9830-0F51-5904E1B1B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CN" dirty="0"/>
              <a:t>his is an analysis that builds a Composite Threate Score for every near-earth asteroid close approach event between 2026 and 2035 using publicly available NASA data.</a:t>
            </a:r>
          </a:p>
        </p:txBody>
      </p:sp>
    </p:spTree>
    <p:extLst>
      <p:ext uri="{BB962C8B-B14F-4D97-AF65-F5344CB8AC3E}">
        <p14:creationId xmlns:p14="http://schemas.microsoft.com/office/powerpoint/2010/main" val="3009241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C33E-FB15-43C6-FB5B-CC4F6720D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8851C-E2BE-4CC0-7494-9D621EFDA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CN" dirty="0"/>
              <a:t>hich asteroids pose the greatest threat during 2026-2035?</a:t>
            </a:r>
          </a:p>
          <a:p>
            <a:r>
              <a:rPr lang="en-US" dirty="0"/>
              <a:t>W</a:t>
            </a:r>
            <a:r>
              <a:rPr lang="en-CN" dirty="0"/>
              <a:t>hich orbital family(Apollo/ Aten/Amor) contributes most high-threat events?</a:t>
            </a:r>
          </a:p>
          <a:p>
            <a:r>
              <a:rPr lang="en-CN" dirty="0"/>
              <a:t>Besides PHA designation, which factor best explains variance in threat scores?</a:t>
            </a:r>
          </a:p>
        </p:txBody>
      </p:sp>
    </p:spTree>
    <p:extLst>
      <p:ext uri="{BB962C8B-B14F-4D97-AF65-F5344CB8AC3E}">
        <p14:creationId xmlns:p14="http://schemas.microsoft.com/office/powerpoint/2010/main" val="3886947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E2A147-C519-0A14-B050-315C44B21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Sources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24FFF-7759-8E53-EB1F-EDE51B4EE0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1" y="552906"/>
            <a:ext cx="5254734" cy="20123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dirty="0"/>
              <a:t>near_earth_asteroids_2025.csv (35,000+ asteroids, 32 columns) </a:t>
            </a:r>
          </a:p>
          <a:p>
            <a:r>
              <a:rPr lang="en-US" sz="1800" dirty="0"/>
              <a:t>Every known NEA with identity, hazard classification, size estimates, orbital elements, Earth proximity metrics, and observation history.</a:t>
            </a:r>
          </a:p>
          <a:p>
            <a:endParaRPr lang="en-US" sz="1800" dirty="0"/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0254EEC-54EE-4D05-088B-FA818191F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86" y="2946402"/>
            <a:ext cx="11837114" cy="201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27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15C5C-F849-11B2-AE7C-8876AFA38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204C6-B307-7051-5DA9-0FE0CEF3FA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90909" y="552906"/>
            <a:ext cx="5159825" cy="16749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asteroid_close_approaches_2015_2035.csv (50,000+ events) </a:t>
            </a:r>
          </a:p>
          <a:p>
            <a:r>
              <a:rPr lang="en-US" sz="2000"/>
              <a:t>Every close approach within 0.1 AU of Earth — date, distance, velocity, and whether it already happened or is upcoming.</a:t>
            </a:r>
          </a:p>
          <a:p>
            <a:endParaRPr lang="en-US" sz="200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3557763-342B-97C1-31C9-69715F5B08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r="43409" b="4610"/>
          <a:stretch>
            <a:fillRect/>
          </a:stretch>
        </p:blipFill>
        <p:spPr>
          <a:xfrm>
            <a:off x="679227" y="2685758"/>
            <a:ext cx="11023364" cy="1486484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EFF3E8-48CF-6837-8BDF-764DE1347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06" y="4470747"/>
            <a:ext cx="9255126" cy="148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687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44B8-E12C-24AC-0B0C-68B2639C4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Process Pipeline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8DEF8E-095D-D747-9067-E68EF4C7A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Data Cleaning</a:t>
            </a:r>
          </a:p>
          <a:p>
            <a:r>
              <a:rPr lang="en-US" dirty="0"/>
              <a:t>F</a:t>
            </a:r>
            <a:r>
              <a:rPr lang="en-CN" dirty="0"/>
              <a:t>eature engineering</a:t>
            </a:r>
          </a:p>
          <a:p>
            <a:r>
              <a:rPr lang="en-CN" dirty="0"/>
              <a:t> </a:t>
            </a:r>
            <a:r>
              <a:rPr lang="en-US" dirty="0"/>
              <a:t>EDA</a:t>
            </a:r>
          </a:p>
          <a:p>
            <a:r>
              <a:rPr lang="en-US" dirty="0"/>
              <a:t>Statistic Testing</a:t>
            </a:r>
          </a:p>
          <a:p>
            <a:r>
              <a:rPr lang="en-US" dirty="0"/>
              <a:t>Evaluation</a:t>
            </a:r>
          </a:p>
          <a:p>
            <a:endParaRPr lang="en-US" dirty="0"/>
          </a:p>
          <a:p>
            <a:endParaRPr lang="en-US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34787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150E-2205-44EE-1905-E5E31A686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CN" dirty="0"/>
              <a:t>ata cleaning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7579BB-F5AC-6E60-7994-2A8E0BF3892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23919" y="1646514"/>
            <a:ext cx="556256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N" altLang="en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CN" altLang="en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Filter dataset to future close approach events (2026–2035), 3,888 rows retained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CN" altLang="en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CN" altLang="en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Missing values: velocity_infinity_km_s (17) and absolute_magnitude (8) →ignore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CN" altLang="en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Missing diameter_m (97%) → estimated using NASA formula: 1329 / √albedo × 10^(−H/5),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CN" altLang="en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default albedo = 0.14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CN" altLang="en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pha unmatched (3 rows) → filled with False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CN" altLang="en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Convert close_approach_date from string → datetime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CN" altLang="en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Merge two tables on full_name (left join) → 3,885/3,888 matched (99.9%)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CN" altLang="en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Final dataset: 3,888 rows × 43 columns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278184-CFAE-272C-0CCF-D018C20BA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81" y="1809750"/>
            <a:ext cx="5181600" cy="364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588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6EE2C-0AB5-2A20-AB98-E018D51A9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CN" dirty="0"/>
              <a:t>eature engineering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28FFA5-A5CB-B1D6-2048-F3B704238A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479" y="1564500"/>
            <a:ext cx="11384207" cy="428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N" altLang="en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CN" altLang="en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Normalize each dimension to [0, 1] using min-max scaling and </a:t>
            </a:r>
            <a:r>
              <a:rPr lang="en-US" sz="2000" dirty="0"/>
              <a:t>Preserves the original relative ordering</a:t>
            </a:r>
            <a:endParaRPr kumimoji="0" lang="en-CN" altLang="en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lang="en-US" sz="1600" dirty="0"/>
              <a:t>Construct five component scores:</a:t>
            </a:r>
          </a:p>
          <a:p>
            <a:pPr marL="0" indent="0">
              <a:buNone/>
            </a:pPr>
            <a:r>
              <a:rPr lang="en-US" sz="1600" dirty="0"/>
              <a:t>Proximity (closer = higher risk)</a:t>
            </a:r>
          </a:p>
          <a:p>
            <a:pPr marL="0" indent="0">
              <a:buNone/>
            </a:pPr>
            <a:r>
              <a:rPr lang="en-US" sz="1600" dirty="0"/>
              <a:t>Size (larger = higher risk)</a:t>
            </a:r>
          </a:p>
          <a:p>
            <a:pPr marL="0" indent="0">
              <a:buNone/>
            </a:pPr>
            <a:r>
              <a:rPr lang="en-US" sz="1600" dirty="0"/>
              <a:t>Velocity (faster = higher risk)</a:t>
            </a:r>
          </a:p>
          <a:p>
            <a:pPr marL="0" indent="0">
              <a:buNone/>
            </a:pPr>
            <a:r>
              <a:rPr lang="en-US" sz="1600" dirty="0"/>
              <a:t>PHA flag (binary)</a:t>
            </a:r>
          </a:p>
          <a:p>
            <a:pPr marL="0" indent="0">
              <a:buNone/>
            </a:pPr>
            <a:r>
              <a:rPr lang="en-US" sz="1600" dirty="0"/>
              <a:t>Uncertainty (orbit variability)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CN" altLang="en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CN" altLang="en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Composite Threat Score 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CN" altLang="en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(0.35 × proximity) + (0.30 × size) + (0.15 × velocity) + (0.10 × pha) + (0.10 × uncertainty) × 100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CN" altLang="en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Weights based on domain knowledge;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CN" altLang="en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proximity and size weighted highest as primary damage determinants</a:t>
            </a:r>
          </a:p>
        </p:txBody>
      </p:sp>
    </p:spTree>
    <p:extLst>
      <p:ext uri="{BB962C8B-B14F-4D97-AF65-F5344CB8AC3E}">
        <p14:creationId xmlns:p14="http://schemas.microsoft.com/office/powerpoint/2010/main" val="3613639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0518-562B-E877-D7E4-97533E2F6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3846"/>
            <a:ext cx="10515600" cy="1325563"/>
          </a:xfrm>
        </p:spPr>
        <p:txBody>
          <a:bodyPr/>
          <a:lstStyle/>
          <a:p>
            <a:r>
              <a:rPr lang="en-US" dirty="0"/>
              <a:t>H</a:t>
            </a:r>
            <a:r>
              <a:rPr lang="en-CN" dirty="0"/>
              <a:t>ypothese test</a:t>
            </a:r>
          </a:p>
        </p:txBody>
      </p:sp>
    </p:spTree>
    <p:extLst>
      <p:ext uri="{BB962C8B-B14F-4D97-AF65-F5344CB8AC3E}">
        <p14:creationId xmlns:p14="http://schemas.microsoft.com/office/powerpoint/2010/main" val="281754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F341-AEA7-47E3-22FB-4C092B1C2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H</a:t>
            </a:r>
            <a:r>
              <a:rPr lang="en-US" altLang="zh-CN" dirty="0"/>
              <a:t>1 (</a:t>
            </a:r>
            <a:r>
              <a:rPr lang="en-US" altLang="zh-CN" i="1" dirty="0"/>
              <a:t>Pearson correlation)</a:t>
            </a:r>
            <a:endParaRPr lang="en-CN" i="1" dirty="0"/>
          </a:p>
        </p:txBody>
      </p:sp>
      <p:pic>
        <p:nvPicPr>
          <p:cNvPr id="5" name="Content Placeholder 4" descr="A black text with black text&#10;&#10;AI-generated content may be incorrect.">
            <a:extLst>
              <a:ext uri="{FF2B5EF4-FFF2-40B4-BE49-F238E27FC236}">
                <a16:creationId xmlns:a16="http://schemas.microsoft.com/office/drawing/2014/main" id="{80757F5B-E310-2417-B12D-91DF796586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717799"/>
            <a:ext cx="5816600" cy="15113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6C45E0-085C-4CF1-4939-2985F56C62D6}"/>
              </a:ext>
            </a:extLst>
          </p:cNvPr>
          <p:cNvSpPr txBox="1"/>
          <p:nvPr/>
        </p:nvSpPr>
        <p:spPr>
          <a:xfrm>
            <a:off x="838200" y="1392236"/>
            <a:ext cx="10925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altLang="en-CN" dirty="0">
                <a:solidFill>
                  <a:srgbClr val="273540"/>
                </a:solidFill>
                <a:ea typeface="LatoWeb"/>
              </a:rPr>
              <a:t>H1: Near-Earth asteroids with larger estimated diameters have significantly longer observational arcs than smaller asteroids.</a:t>
            </a:r>
          </a:p>
          <a:p>
            <a:r>
              <a:rPr lang="en-US" altLang="en-CN" dirty="0">
                <a:solidFill>
                  <a:srgbClr val="273540"/>
                </a:solidFill>
                <a:ea typeface="LatoWeb"/>
              </a:rPr>
              <a:t>Key Question</a:t>
            </a:r>
            <a:r>
              <a:rPr lang="zh-CN" altLang="en-US" dirty="0">
                <a:solidFill>
                  <a:srgbClr val="273540"/>
                </a:solidFill>
                <a:ea typeface="LatoWeb"/>
              </a:rPr>
              <a:t> </a:t>
            </a:r>
            <a:r>
              <a:rPr lang="en-US" altLang="en-CN" dirty="0">
                <a:solidFill>
                  <a:srgbClr val="273540"/>
                </a:solidFill>
                <a:ea typeface="LatoWeb"/>
              </a:rPr>
              <a:t>:</a:t>
            </a:r>
            <a:r>
              <a:rPr lang="en-US" dirty="0"/>
              <a:t>Is there a linear relationship between two continuous variables (H magnitude and arc length)?</a:t>
            </a:r>
            <a:endParaRPr lang="en-CN" altLang="en-CN" dirty="0">
              <a:solidFill>
                <a:srgbClr val="273540"/>
              </a:solidFill>
              <a:ea typeface="LatoWeb"/>
            </a:endParaRP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88391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4603-B51B-BC7E-05C1-6CB7C34A7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H2 (</a:t>
            </a:r>
            <a:r>
              <a:rPr lang="en-CN" i="1" dirty="0"/>
              <a:t>t test and </a:t>
            </a:r>
            <a:r>
              <a:rPr lang="en-US" i="1" dirty="0"/>
              <a:t>Cohen’s d)</a:t>
            </a:r>
            <a:endParaRPr lang="en-CN" i="1" dirty="0"/>
          </a:p>
        </p:txBody>
      </p:sp>
      <p:pic>
        <p:nvPicPr>
          <p:cNvPr id="5" name="Content Placeholder 4" descr="A black and white text on a white background&#10;&#10;AI-generated content may be incorrect.">
            <a:extLst>
              <a:ext uri="{FF2B5EF4-FFF2-40B4-BE49-F238E27FC236}">
                <a16:creationId xmlns:a16="http://schemas.microsoft.com/office/drawing/2014/main" id="{8039A8CB-A9D2-5A6F-1D9F-E57D17AB87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619057"/>
            <a:ext cx="6359550" cy="340029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F649C4-C3F1-562B-58E5-0D6F118EC0AD}"/>
              </a:ext>
            </a:extLst>
          </p:cNvPr>
          <p:cNvSpPr txBox="1"/>
          <p:nvPr/>
        </p:nvSpPr>
        <p:spPr>
          <a:xfrm>
            <a:off x="838200" y="1293494"/>
            <a:ext cx="82440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altLang="en-CN" dirty="0">
                <a:solidFill>
                  <a:srgbClr val="273540"/>
                </a:solidFill>
                <a:ea typeface="LatoWeb"/>
              </a:rPr>
              <a:t>H2: Potentially Hazardous Asteroids (PHAs) have a higher mean relative velocity at close approach than non-PHAs.</a:t>
            </a:r>
          </a:p>
          <a:p>
            <a:r>
              <a:rPr lang="en-US" altLang="en-CN" dirty="0">
                <a:solidFill>
                  <a:srgbClr val="273540"/>
                </a:solidFill>
                <a:ea typeface="LatoWeb"/>
              </a:rPr>
              <a:t>K</a:t>
            </a:r>
            <a:r>
              <a:rPr lang="en-CN" altLang="en-CN" dirty="0">
                <a:solidFill>
                  <a:srgbClr val="273540"/>
                </a:solidFill>
                <a:ea typeface="LatoWeb"/>
              </a:rPr>
              <a:t>ey question: </a:t>
            </a:r>
            <a:r>
              <a:rPr lang="en-US" dirty="0"/>
              <a:t>Do two independent groups (PHA vs non-PHA) have different mean velocities?</a:t>
            </a:r>
            <a:endParaRPr lang="en-CN" altLang="en-CN" dirty="0">
              <a:solidFill>
                <a:srgbClr val="273540"/>
              </a:solidFill>
              <a:ea typeface="LatoWeb"/>
            </a:endParaRP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695178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64B19-669C-C96B-E979-04E3A059B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H3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i="1" dirty="0"/>
              <a:t>Standardized Linear Regression)</a:t>
            </a:r>
            <a:endParaRPr lang="en-CN" i="1" dirty="0"/>
          </a:p>
        </p:txBody>
      </p:sp>
      <p:pic>
        <p:nvPicPr>
          <p:cNvPr id="5" name="Content Placeholder 4" descr="A black and white math page&#10;&#10;AI-generated content may be incorrect.">
            <a:extLst>
              <a:ext uri="{FF2B5EF4-FFF2-40B4-BE49-F238E27FC236}">
                <a16:creationId xmlns:a16="http://schemas.microsoft.com/office/drawing/2014/main" id="{E01A78C6-B93E-F346-9C2D-330040BB9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3075051"/>
            <a:ext cx="6083300" cy="31623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148646-EC9A-DB71-D22D-6FEB7F0F6665}"/>
              </a:ext>
            </a:extLst>
          </p:cNvPr>
          <p:cNvSpPr txBox="1"/>
          <p:nvPr/>
        </p:nvSpPr>
        <p:spPr>
          <a:xfrm>
            <a:off x="838200" y="1828872"/>
            <a:ext cx="105156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H3:</a:t>
            </a:r>
            <a:r>
              <a:rPr lang="en-CN" altLang="en-CN" dirty="0">
                <a:solidFill>
                  <a:srgbClr val="273540"/>
                </a:solidFill>
                <a:ea typeface="LatoWeb"/>
              </a:rPr>
              <a:t>Approach distance is the strongest predictor of composite threat scores compared to size, velocity, and orbital uncertainty.</a:t>
            </a:r>
            <a:endParaRPr lang="en-US" dirty="0"/>
          </a:p>
          <a:p>
            <a:r>
              <a:rPr lang="en-US" dirty="0"/>
              <a:t>Key Question: Among four predictor variables, which one explains the most variance in the threat score?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34515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C882B-941A-208E-D25A-25CDB661F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EDA</a:t>
            </a:r>
          </a:p>
        </p:txBody>
      </p:sp>
      <p:pic>
        <p:nvPicPr>
          <p:cNvPr id="11" name="Content Placeholder 10" descr="A chart with numbers and dots&#10;&#10;AI-generated content may be incorrect.">
            <a:extLst>
              <a:ext uri="{FF2B5EF4-FFF2-40B4-BE49-F238E27FC236}">
                <a16:creationId xmlns:a16="http://schemas.microsoft.com/office/drawing/2014/main" id="{1DD194E8-438B-2B8D-A9BC-C5700F551D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6800" y="1380781"/>
            <a:ext cx="9029700" cy="5112094"/>
          </a:xfrm>
        </p:spPr>
      </p:pic>
    </p:spTree>
    <p:extLst>
      <p:ext uri="{BB962C8B-B14F-4D97-AF65-F5344CB8AC3E}">
        <p14:creationId xmlns:p14="http://schemas.microsoft.com/office/powerpoint/2010/main" val="2411238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omparison of a graph&#10;&#10;AI-generated content may be incorrect.">
            <a:extLst>
              <a:ext uri="{FF2B5EF4-FFF2-40B4-BE49-F238E27FC236}">
                <a16:creationId xmlns:a16="http://schemas.microsoft.com/office/drawing/2014/main" id="{E1E0B1B7-60F7-5EE4-019E-A41E636E6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0812" y="757766"/>
            <a:ext cx="1087037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174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2AD2597-CC9E-2826-B846-5CFEF30882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57007" y="643466"/>
            <a:ext cx="647798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224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arison of a graph&#10;&#10;AI-generated content may be incorrect.">
            <a:extLst>
              <a:ext uri="{FF2B5EF4-FFF2-40B4-BE49-F238E27FC236}">
                <a16:creationId xmlns:a16="http://schemas.microsoft.com/office/drawing/2014/main" id="{03CF0C6C-68CD-F185-76BC-84513173E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900"/>
          <a:stretch>
            <a:fillRect/>
          </a:stretch>
        </p:blipFill>
        <p:spPr>
          <a:xfrm>
            <a:off x="20" y="465977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886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6987DC0B-9392-FB20-8E87-E11D94D76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9656" y="1376569"/>
            <a:ext cx="5245100" cy="4104861"/>
          </a:xfrm>
          <a:prstGeom prst="rect">
            <a:avLst/>
          </a:prstGeom>
        </p:spPr>
      </p:pic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45C17A-F8D4-B609-1526-EF7538784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44" y="1485900"/>
            <a:ext cx="5488756" cy="3886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32073F-9C70-E8FE-023C-43465B56AC29}"/>
              </a:ext>
            </a:extLst>
          </p:cNvPr>
          <p:cNvSpPr txBox="1"/>
          <p:nvPr/>
        </p:nvSpPr>
        <p:spPr>
          <a:xfrm>
            <a:off x="673100" y="404734"/>
            <a:ext cx="1040463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3600" dirty="0"/>
              <a:t>Research question1: </a:t>
            </a:r>
            <a:r>
              <a:rPr lang="en-US" sz="2000" dirty="0"/>
              <a:t>W</a:t>
            </a:r>
            <a:r>
              <a:rPr lang="en-CN" sz="2000" dirty="0"/>
              <a:t>hich asteroids pose the greatest threat during 2026-2035?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424383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61BAE23-24DF-7FB0-FB09-BBAD7EA64D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43828" y="223741"/>
            <a:ext cx="5111453" cy="55710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4AF936-73F0-03C0-50E4-FF952AD485EE}"/>
              </a:ext>
            </a:extLst>
          </p:cNvPr>
          <p:cNvSpPr txBox="1"/>
          <p:nvPr/>
        </p:nvSpPr>
        <p:spPr>
          <a:xfrm>
            <a:off x="254833" y="704538"/>
            <a:ext cx="48867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3600" dirty="0"/>
              <a:t>Research question2:</a:t>
            </a:r>
          </a:p>
          <a:p>
            <a:endParaRPr lang="en-CN" sz="3600" dirty="0"/>
          </a:p>
          <a:p>
            <a:r>
              <a:rPr lang="en-US" dirty="0"/>
              <a:t>W</a:t>
            </a:r>
            <a:r>
              <a:rPr lang="en-CN" dirty="0"/>
              <a:t>hich orbital family(Apollo/ Aten/Amor) contributes most high-threat events?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420233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E24FAF-8A5A-F5B7-FF76-E06CBF3B9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69" y="174032"/>
            <a:ext cx="10175631" cy="1111843"/>
          </a:xfrm>
        </p:spPr>
        <p:txBody>
          <a:bodyPr anchor="ctr">
            <a:normAutofit/>
          </a:bodyPr>
          <a:lstStyle/>
          <a:p>
            <a:r>
              <a:rPr lang="en-CN" sz="3600" dirty="0"/>
              <a:t>Research question3: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F4DA1-EB6E-D01F-35BD-83D61FBD7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470" y="1467739"/>
            <a:ext cx="10175630" cy="76790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CN" sz="2000" dirty="0"/>
              <a:t>Besides PHA designation, which factor best explains variance in threat scores?</a:t>
            </a:r>
          </a:p>
          <a:p>
            <a:pPr marL="0" indent="0">
              <a:buNone/>
            </a:pPr>
            <a:r>
              <a:rPr lang="en-US" sz="2000" dirty="0"/>
              <a:t>A</a:t>
            </a:r>
            <a:r>
              <a:rPr lang="en-CN" sz="2000" dirty="0"/>
              <a:t>ccording to h3, proximity explains best.</a:t>
            </a:r>
          </a:p>
          <a:p>
            <a:pPr algn="ctr"/>
            <a:endParaRPr lang="en-CN" sz="2000" dirty="0"/>
          </a:p>
        </p:txBody>
      </p:sp>
      <p:pic>
        <p:nvPicPr>
          <p:cNvPr id="5" name="Picture 4" descr="A screenshot of a test&#10;&#10;AI-generated content may be incorrect.">
            <a:extLst>
              <a:ext uri="{FF2B5EF4-FFF2-40B4-BE49-F238E27FC236}">
                <a16:creationId xmlns:a16="http://schemas.microsoft.com/office/drawing/2014/main" id="{D2172B5F-8E51-1663-3937-9B2D0FD8A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97" y="2122241"/>
            <a:ext cx="7759985" cy="389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00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0C5DB-07CD-3EAA-4959-FDF08D36D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Evaluation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i="1" dirty="0"/>
              <a:t>Spearman correlation)</a:t>
            </a:r>
            <a:endParaRPr lang="en-CN" i="1" dirty="0"/>
          </a:p>
        </p:txBody>
      </p:sp>
      <p:pic>
        <p:nvPicPr>
          <p:cNvPr id="5" name="Content Placeholder 4" descr="A number of numbers and symbols&#10;&#10;AI-generated content may be incorrect.">
            <a:extLst>
              <a:ext uri="{FF2B5EF4-FFF2-40B4-BE49-F238E27FC236}">
                <a16:creationId xmlns:a16="http://schemas.microsoft.com/office/drawing/2014/main" id="{027AB0A2-EC79-066B-3D54-4A49D2DA7A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0072" y="1690688"/>
            <a:ext cx="5575300" cy="1803400"/>
          </a:xfr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2F8A424-8D2B-58B6-A104-CF0678FAC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71" y="3494088"/>
            <a:ext cx="5714485" cy="167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98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23A6C-4198-8BFB-0E08-EB905A225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C5465-407F-6639-2B71-0715F75A7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CTS is a relative ranking, NOT impact probability</a:t>
            </a:r>
          </a:p>
          <a:p>
            <a:r>
              <a:rPr lang="en-US" dirty="0"/>
              <a:t>  - 97% of diameters are estimated (albedo assumed = 0.14)</a:t>
            </a:r>
          </a:p>
          <a:p>
            <a:r>
              <a:rPr lang="en-US" dirty="0"/>
              <a:t>  - Weights are expert-based, not statistically derived</a:t>
            </a:r>
          </a:p>
          <a:p>
            <a:r>
              <a:rPr lang="en-US" dirty="0"/>
              <a:t>  - Small asteroid catalog is incomplete (arc &lt; 0.1 yr)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835028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10252</TotalTime>
  <Words>1697</Words>
  <Application>Microsoft Macintosh PowerPoint</Application>
  <PresentationFormat>Widescreen</PresentationFormat>
  <Paragraphs>145</Paragraphs>
  <Slides>22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LatoWeb</vt:lpstr>
      <vt:lpstr>Aptos</vt:lpstr>
      <vt:lpstr>Aptos Display</vt:lpstr>
      <vt:lpstr>Arial</vt:lpstr>
      <vt:lpstr>Office Theme</vt:lpstr>
      <vt:lpstr>Asteroid Threat Assessment</vt:lpstr>
      <vt:lpstr>Presentation Outline</vt:lpstr>
      <vt:lpstr>Project Overview</vt:lpstr>
      <vt:lpstr>Research Questions</vt:lpstr>
      <vt:lpstr>Data Sources</vt:lpstr>
      <vt:lpstr>Data Sources</vt:lpstr>
      <vt:lpstr>Process Pipeline</vt:lpstr>
      <vt:lpstr>Data cleaning</vt:lpstr>
      <vt:lpstr>Feature engineering</vt:lpstr>
      <vt:lpstr>Hypothese test</vt:lpstr>
      <vt:lpstr>H1 (Pearson correlation)</vt:lpstr>
      <vt:lpstr>H2 (t test and Cohen’s d)</vt:lpstr>
      <vt:lpstr>H3 (Standardized Linear Regression)</vt:lpstr>
      <vt:lpstr>EDA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 question3:</vt:lpstr>
      <vt:lpstr>Evaluation (Spearman correlation)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Tian, Zhen</dc:creator>
  <cp:lastModifiedBy>Tian, Zhen</cp:lastModifiedBy>
  <cp:revision>6</cp:revision>
  <dcterms:created xsi:type="dcterms:W3CDTF">2026-05-04T03:08:36Z</dcterms:created>
  <dcterms:modified xsi:type="dcterms:W3CDTF">2026-05-11T21:49:46Z</dcterms:modified>
</cp:coreProperties>
</file>